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temporal reframing savings experiment, run twice (N=20, then N=400) and checked against a real published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1193800"/>
            <a:ext cx="497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VS Code</a:t>
            </a:r>
            <a:r>
              <a:rPr sz="2200"/>
              <a:t>: a code editor – where you view/edit files, open a terminal, browse the project</a:t>
            </a:r>
          </a:p>
          <a:p>
            <a:pPr lvl="0"/>
            <a:r>
              <a:rPr b="1" sz="2200"/>
              <a:t>Claude Code</a:t>
            </a:r>
            <a:r>
              <a:rPr sz="2200"/>
              <a:t>: an AI agent that runs inside (or alongside) VS Code</a:t>
            </a:r>
          </a:p>
          <a:p>
            <a:pPr lvl="1"/>
            <a:r>
              <a:rPr sz="2200"/>
              <a:t>Reads and writes files, runs terminal commands, executes Python scripts</a:t>
            </a:r>
          </a:p>
          <a:p>
            <a:pPr lvl="1"/>
            <a:r>
              <a:rPr sz="2200"/>
              <a:t>Follows </a:t>
            </a:r>
            <a:r>
              <a:rPr b="1" sz="2200"/>
              <a:t>Skills</a:t>
            </a:r>
            <a:r>
              <a:rPr sz="2200"/>
              <a:t> – written instructions for a specific recurring task</a:t>
            </a:r>
          </a:p>
          <a:p>
            <a:pPr lvl="1"/>
            <a:r>
              <a:rPr sz="2200"/>
              <a:t>Can spawn </a:t>
            </a:r>
            <a:r>
              <a:rPr b="1" sz="2200"/>
              <a:t>subagents</a:t>
            </a:r>
            <a:r>
              <a:rPr sz="2200"/>
              <a:t>: independent Claude conversations for parallel work (this is how we simulate many subjects at once)</a:t>
            </a:r>
          </a:p>
          <a:p>
            <a:pPr lvl="0"/>
            <a:r>
              <a:rPr sz="2200"/>
              <a:t>You talk to Claude Code in plain English; it takes the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looks like in practice</a:t>
            </a:r>
          </a:p>
        </p:txBody>
      </p:sp>
      <p:pic>
        <p:nvPicPr>
          <p:cNvPr descr="assets/mockup_set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No shell commands to memorize – you describe the goal in the chat panel and Claude Code does the work.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rest of this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next few slides show this same pattern for every research stage: a chat mockup first, plain and simple</a:t>
            </a:r>
          </a:p>
          <a:p>
            <a:pPr lvl="0"/>
            <a:r>
              <a:rPr/>
              <a:t>Slides marked </a:t>
            </a:r>
            <a:r>
              <a:rPr i="1"/>
              <a:t>“Under the hood”</a:t>
            </a:r>
            <a:r>
              <a:rPr/>
              <a:t> are optional depth for the curious – skip them if plain English is all you need</a:t>
            </a:r>
          </a:p>
          <a:p>
            <a:pPr lvl="0"/>
            <a:r>
              <a:rPr/>
              <a:t>Nothing under the hood is required reading to use the workflow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6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Python</a:t>
            </a:r>
            <a:r>
              <a:rPr sz="2200"/>
              <a:t> – sampling, statistics, chart generation (pandas, numpy, scipy, statsmodels, matplotlib)</a:t>
            </a:r>
          </a:p>
          <a:p>
            <a:pPr lvl="0"/>
            <a:r>
              <a:rPr b="1" sz="2200"/>
              <a:t>git + GitHub</a:t>
            </a:r>
            <a:r>
              <a:rPr sz="2200"/>
              <a:t> – version control, collaboration, backup</a:t>
            </a:r>
          </a:p>
          <a:p>
            <a:pPr lvl="0"/>
            <a:r>
              <a:rPr b="1" sz="2200"/>
              <a:t>VS Code + Claude Code</a:t>
            </a:r>
            <a:r>
              <a:rPr sz="2200"/>
              <a:t> – the environment this all runs in</a:t>
            </a:r>
          </a:p>
          <a:p>
            <a:pPr lvl="0"/>
            <a:r>
              <a:rPr b="1" sz="2200"/>
              <a:t>pandoc</a:t>
            </a:r>
            <a:r>
              <a:rPr sz="2200"/>
              <a:t> – converts markdown into docx / pptx / pdf (used for writeups, this deck, and the workbook)</a:t>
            </a:r>
          </a:p>
          <a:p>
            <a:pPr lvl="0"/>
            <a:r>
              <a:rPr sz="2200"/>
              <a:t>All of it installed and configured </a:t>
            </a:r>
            <a:r>
              <a:rPr i="1" sz="2200"/>
              <a:t>by</a:t>
            </a:r>
            <a:r>
              <a:rPr sz="2200"/>
              <a:t> Claude Code, conversationally – you don’t have to type any of what follows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>
                <a:latin typeface="Courier New"/>
              </a:rPr>
              <a:t>python -m venv .venv</a:t>
            </a:r>
            <a:r>
              <a:rPr sz="1800"/>
              <a:t> then </a:t>
            </a:r>
            <a:r>
              <a:rPr sz="1800">
                <a:latin typeface="Courier New"/>
              </a:rPr>
              <a:t>pip install -r scripts/requirements.txt</a:t>
            </a:r>
          </a:p>
          <a:p>
            <a:pPr lvl="0"/>
            <a:r>
              <a:rPr sz="1800">
                <a:latin typeface="Courier New"/>
              </a:rPr>
              <a:t>git init</a:t>
            </a:r>
            <a:r>
              <a:rPr sz="1800"/>
              <a:t>, then </a:t>
            </a:r>
            <a:r>
              <a:rPr sz="1800">
                <a:latin typeface="Courier New"/>
              </a:rPr>
              <a:t>gh repo create --private --source=. --push</a:t>
            </a:r>
          </a:p>
          <a:p>
            <a:pPr lvl="0"/>
            <a:r>
              <a:rPr sz="1800"/>
              <a:t>Real snags hit along the way (useful to know, not just theory):</a:t>
            </a:r>
          </a:p>
          <a:p>
            <a:pPr lvl="1"/>
            <a:r>
              <a:rPr b="1" sz="1800"/>
              <a:t>winget</a:t>
            </a:r>
            <a:r>
              <a:rPr sz="1800"/>
              <a:t> (Windows) needed </a:t>
            </a:r>
            <a:r>
              <a:rPr sz="1800">
                <a:latin typeface="Courier New"/>
              </a:rPr>
              <a:t>--scope user</a:t>
            </a:r>
            <a:r>
              <a:rPr sz="1800"/>
              <a:t> to dodge a silent admin-elevation failure – </a:t>
            </a:r>
            <a:r>
              <a:rPr b="1" sz="1800"/>
              <a:t>Homebrew</a:t>
            </a:r>
            <a:r>
              <a:rPr sz="1800"/>
              <a:t> (Mac) has no such prompt</a:t>
            </a:r>
          </a:p>
          <a:p>
            <a:pPr lvl="1"/>
            <a:r>
              <a:rPr sz="1800"/>
              <a:t>PATH changes don’t persist between separate terminal commands – each one needs its own PATH refresh</a:t>
            </a:r>
          </a:p>
          <a:p>
            <a:pPr lvl="1"/>
            <a:r>
              <a:rPr sz="1800"/>
              <a:t>pandoc needs </a:t>
            </a:r>
            <a:r>
              <a:rPr sz="1800">
                <a:latin typeface="Courier New"/>
              </a:rPr>
              <a:t>--resource-path</a:t>
            </a:r>
            <a:r>
              <a:rPr sz="1800"/>
              <a:t> to find images referenced by relative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600">
                <a:latin typeface="Courier New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pic>
        <p:nvPicPr>
          <p:cNvPr descr="assets/pipelin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Built</a:t>
            </a:r>
            <a:r>
              <a:rPr sz="2200"/>
              <a:t>: Stages 3, 4, 5, 7 – the empirical core (design -&gt; test -&gt; analyze -&gt; write up)</a:t>
            </a:r>
          </a:p>
          <a:p>
            <a:pPr lvl="0"/>
            <a:r>
              <a:rPr b="1" sz="2200"/>
              <a:t>Deferred</a:t>
            </a:r>
            <a:r>
              <a:rPr sz="2200"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 sz="2200"/>
              <a:t>Deferred within Stage 5</a:t>
            </a:r>
            <a:r>
              <a:rPr sz="2200"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 sz="2200"/>
              <a:t>Lesson: scope a v1 tightly around what you can validate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 New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12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Skill actually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This project’s real </a:t>
            </a:r>
            <a:r>
              <a:rPr sz="1800">
                <a:latin typeface="Courier New"/>
              </a:rPr>
              <a:t>behavioral-design/SKILL.md</a:t>
            </a:r>
            <a:r>
              <a:rPr sz="1800"/>
              <a:t> (trimmed) – </a:t>
            </a:r>
            <a:r>
              <a:rPr sz="1800">
                <a:latin typeface="Courier New"/>
              </a:rPr>
              <a:t>name</a:t>
            </a:r>
            <a:r>
              <a:rPr sz="1800"/>
              <a:t> + </a:t>
            </a:r>
            <a:r>
              <a:rPr sz="1800">
                <a:latin typeface="Courier New"/>
              </a:rPr>
              <a:t>description</a:t>
            </a:r>
            <a:r>
              <a:rPr sz="1800"/>
              <a:t> tell Claude Code </a:t>
            </a:r>
            <a:r>
              <a:rPr i="1" sz="1800"/>
              <a:t>when</a:t>
            </a:r>
            <a:r>
              <a:rPr sz="1800"/>
              <a:t> to use it, the body is plain-English instructions:</a:t>
            </a:r>
          </a:p>
          <a:p>
            <a:pPr lvl="0" indent="0">
              <a:buNone/>
            </a:pPr>
            <a:r>
              <a:rPr sz="1800">
                <a:latin typeface="Courier New"/>
              </a:rPr>
              <a:t>---
name: behavioral-design
description: Stage 3 -- set up a control-vs-treatment behavioral test
---
Required inputs: control stimulus, treatment stimulus,
population to sample, outcome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 in practice</a:t>
            </a:r>
          </a:p>
        </p:txBody>
      </p:sp>
      <p:pic>
        <p:nvPicPr>
          <p:cNvPr descr="assets/mockup_st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describe your stimuli, population, and outcome in plain language – Claude Code turns it into a structured design package. No file formats to learn.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 New"/>
              </a:rPr>
              <a:t>research_design.md</a:t>
            </a:r>
            <a:r>
              <a:rPr/>
              <a:t>, </a:t>
            </a:r>
            <a:r>
              <a:rPr>
                <a:latin typeface="Courier New"/>
              </a:rPr>
              <a:t>stimuli/*.md</a:t>
            </a:r>
            <a:r>
              <a:rPr/>
              <a:t>, </a:t>
            </a:r>
            <a:r>
              <a:rPr>
                <a:latin typeface="Courier New"/>
              </a:rPr>
              <a:t>population_spec.md</a:t>
            </a:r>
            <a:r>
              <a:rPr/>
              <a:t>, </a:t>
            </a:r>
            <a:r>
              <a:rPr>
                <a:latin typeface="Courier New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 in practice</a:t>
            </a:r>
          </a:p>
        </p:txBody>
      </p:sp>
      <p:pic>
        <p:nvPicPr>
          <p:cNvPr descr="assets/mockup_st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state a sample size and let Claude Code handle sampling and simulation – behind this one message: population sampling, condition assignment, and dozens of simulated subject batches.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16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Demographics + individual differences sampled from researcher-specified means/SDs</a:t>
            </a:r>
          </a:p>
          <a:p>
            <a:pPr lvl="0"/>
            <a:r>
              <a:rPr sz="2200"/>
              <a:t>Correlations </a:t>
            </a:r>
            <a:r>
              <a:rPr i="1" sz="2200"/>
              <a:t>supported</a:t>
            </a:r>
            <a:r>
              <a:rPr sz="2200"/>
              <a:t> via a Gaussian copula – </a:t>
            </a:r>
            <a:r>
              <a:rPr b="1" sz="2200"/>
              <a:t>not used here</a:t>
            </a:r>
            <a:r>
              <a:rPr sz="2200"/>
              <a:t>: only marginal distributions were given, not correlation guidance</a:t>
            </a:r>
          </a:p>
          <a:p>
            <a:pPr lvl="0"/>
            <a:r>
              <a:rPr sz="2200"/>
              <a:t>Ordinal/count variables (income bracket, literacy) rounded to valid values</a:t>
            </a:r>
          </a:p>
          <a:p>
            <a:pPr lvl="0"/>
            <a:r>
              <a:rPr sz="2200"/>
              <a:t>Random, independent assignment to condition – same mechanics as a real RCT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Each </a:t>
            </a:r>
            <a:r>
              <a:rPr b="1" sz="2200"/>
              <a:t>subagent</a:t>
            </a:r>
            <a:r>
              <a:rPr sz="2200"/>
              <a:t> simulates a batch of ~10 subjects in one call – batching matters:</a:t>
            </a:r>
          </a:p>
          <a:p>
            <a:pPr lvl="1"/>
            <a:r>
              <a:rPr sz="2200"/>
              <a:t>Batch size 2: ~9,875 tokens/subject</a:t>
            </a:r>
          </a:p>
          <a:p>
            <a:pPr lvl="1"/>
            <a:r>
              <a:rPr sz="2200"/>
              <a:t>Batch size 10: ~2,588 tokens/subject (</a:t>
            </a:r>
            <a:r>
              <a:rPr b="1" sz="2200"/>
              <a:t>~4x more efficient</a:t>
            </a:r>
            <a:r>
              <a:rPr sz="2200"/>
              <a:t>)</a:t>
            </a:r>
          </a:p>
          <a:p>
            <a:pPr lvl="0"/>
            <a:r>
              <a:rPr sz="2200"/>
              <a:t>Subjects respond in-persona based on their sampled profile, not as “an AI”</a:t>
            </a:r>
          </a:p>
          <a:p>
            <a:pPr lvl="0"/>
            <a:r>
              <a:rPr b="1" sz="2200"/>
              <a:t>Blinding feature</a:t>
            </a:r>
            <a:r>
              <a:rPr sz="2200"/>
              <a:t>: conditions can be tracked under neutral labels (Condition A/B) until the researcher chooses to reveal which is treatment – avoids analyst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18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4: what the data actually looks like </a:t>
            </a:r>
            <a:r>
              <a:rPr i="1"/>
              <a:t>(under the hood)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simulated subject becomes one row of </a:t>
            </a:r>
            <a:r>
              <a:rPr>
                <a:latin typeface="Courier New"/>
              </a:rPr>
              <a:t>subjects_data.csv</a:t>
            </a:r>
            <a:r>
              <a:rPr/>
              <a:t> (real rows shown, from this workshop’s own N=400 run):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8509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subject_id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condition_1 (treatment)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Yes, start saving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condition_2 (control)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 in practice</a:t>
            </a:r>
          </a:p>
        </p:txBody>
      </p:sp>
      <p:pic>
        <p:nvPicPr>
          <p:cNvPr descr="assets/mockup_st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gets you a balance check, a regression, and a chart – plain-English results first, statistical detail if you want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Balance check</a:t>
            </a:r>
            <a:r>
              <a:rPr sz="2200"/>
              <a:t> – are demographics/individual differences actually balanced across conditions? (chi-sq, F-test, Bartlett’s)</a:t>
            </a:r>
          </a:p>
          <a:p>
            <a:pPr lvl="0"/>
            <a:r>
              <a:rPr b="1" sz="2200"/>
              <a:t>Regression</a:t>
            </a:r>
            <a:r>
              <a:rPr sz="2200"/>
              <a:t> – OLS or logit, with/without controls, on the primary and secondary outcomes</a:t>
            </a:r>
          </a:p>
          <a:p>
            <a:pPr lvl="0"/>
            <a:r>
              <a:rPr b="1" sz="2200"/>
              <a:t>Charts</a:t>
            </a:r>
            <a:r>
              <a:rPr sz="2200"/>
              <a:t> – outcome-by-condition bar charts with standard errors</a:t>
            </a:r>
          </a:p>
          <a:p>
            <a:pPr lvl="0"/>
            <a:r>
              <a:rPr sz="2200"/>
              <a:t>A real bug caught here: pandas 3.0’s new string dtype silently broke a dtype check – always verify assumptions on real output, don’t trust silently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 in practice</a:t>
            </a:r>
          </a:p>
        </p:txBody>
      </p:sp>
      <p:pic>
        <p:nvPicPr>
          <p:cNvPr descr="assets/mockup_stage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produces a Word-ready document you can open, edit, and share – optionally compared against a published study’s statistics.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temporal reframing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26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457201" y="1076326"/>
            <a:ext cx="3008313" cy="27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1" y="3856326"/>
            <a:ext cx="3008313" cy="7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We didn't design this to match a published study. It just did.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700000"/>
          </a:xfrm>
        </p:spPr>
        <p:txBody>
          <a:bodyPr/>
          <a:lstStyle/>
          <a:p>
            <a:pPr lvl="0"/>
            <a:r>
              <a:rPr sz="2000"/>
              <a:t>Synthetic LLM-simulated subjects can reproduce a real behavioral effect’s </a:t>
            </a:r>
            <a:r>
              <a:rPr b="1" sz="2000"/>
              <a:t>direction and significance</a:t>
            </a:r>
            <a:r>
              <a:rPr sz="2000"/>
              <a:t> for a choice outcome</a:t>
            </a:r>
          </a:p>
          <a:p>
            <a:pPr lvl="0"/>
            <a:r>
              <a:rPr sz="2000"/>
              <a:t>They may </a:t>
            </a:r>
            <a:r>
              <a:rPr b="1" sz="2000"/>
              <a:t>understate effect sizes</a:t>
            </a:r>
            <a:r>
              <a:rPr sz="2000"/>
              <a:t> even when direction replicates (affordability)</a:t>
            </a:r>
          </a:p>
          <a:p>
            <a:pPr lvl="0"/>
            <a:r>
              <a:rPr sz="2000"/>
              <a:t>They can </a:t>
            </a:r>
            <a:r>
              <a:rPr b="1" sz="2000"/>
              <a:t>miss a mechanism entirely</a:t>
            </a:r>
            <a:r>
              <a:rPr sz="2000"/>
              <a:t> (understandability) – a reminder that synthetic samples are a tool for iteration, not a substitute for real data</a:t>
            </a:r>
          </a:p>
          <a:p>
            <a:pPr lvl="0"/>
            <a:r>
              <a:rPr sz="2000"/>
              <a:t>Practical toolkit: skills + subagents + Python + pandoc, all orchestrated conversationally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80151"/>
            <a:ext cx="8229600" cy="6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Synthetic samples are a tool for iteration — not a substitute for real data.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presentation and its companion workbook were themselves generated with Claude Code, using the exact workflow, skills, and prompt patterns described in this talk</a:t>
            </a:r>
          </a:p>
          <a:p>
            <a:pPr lvl="0"/>
            <a:r>
              <a:rPr/>
              <a:t>Purpose: illustrative – demonstrating the tool by using it on itself</a:t>
            </a:r>
          </a:p>
          <a:p>
            <a:pPr lvl="0"/>
            <a:r>
              <a:rPr/>
              <a:t>All statistics, tables, and figures shown are real outputs from this workshop’s actual project runs, not fabricated for effect</a:t>
            </a:r>
          </a:p>
          <a:p>
            <a:pPr lvl="0"/>
            <a:r>
              <a:rPr/>
              <a:t>As with any AI-assisted work: review and verify before reusing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 New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Stephen Shu</dc:creator>
  <cp:keywords/>
  <dcterms:created xsi:type="dcterms:W3CDTF">2026-09-03T13:08:55Z</dcterms:created>
  <dcterms:modified xsi:type="dcterms:W3CDTF">2026-09-03T13:08:55Z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From environment setup to a synthetic replication of a published study</vt:lpwstr>
  </property>
</Properties>
</file>