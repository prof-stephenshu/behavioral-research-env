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package/2006/relationships/metadata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Building an AI-Assisted Behavioral Research Workflow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From environment setup to a synthetic replication of a published study</a:t>
            </a:r>
            <a:br/>
            <a:br/>
            <a:r>
              <a:rPr/>
              <a:t>Behavioral Research Workshop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777740"/>
            <a:ext cx="5486400" cy="27432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l"/>
            <a:r>
              <a:rPr sz="900">
                <a:solidFill>
                  <a:srgbClr val="595959"/>
                </a:solidFill>
              </a:rPr>
              <a:t>Copyright © 2026 Behavioral Research Workshop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21040" y="4732020"/>
            <a:ext cx="548640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200" b="1">
                <a:solidFill>
                  <a:srgbClr val="1F4E79"/>
                </a:solidFill>
              </a:rPr>
              <a:t>1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Why simulate behavioral experiments with LLM agents?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Real human studies are slow and costly to iterate on</a:t>
            </a:r>
          </a:p>
          <a:p>
            <a:pPr lvl="0"/>
            <a:r>
              <a:rPr/>
              <a:t>LLM-simulated subjects let you pressure-test a design </a:t>
            </a:r>
            <a:r>
              <a:rPr i="1"/>
              <a:t>before</a:t>
            </a:r>
            <a:r>
              <a:rPr/>
              <a:t> spending money on real recruitment</a:t>
            </a:r>
          </a:p>
          <a:p>
            <a:pPr lvl="0"/>
            <a:r>
              <a:rPr/>
              <a:t>Question we’ll answer today: does a synthetic sample actually behave like a real one?</a:t>
            </a:r>
          </a:p>
          <a:p>
            <a:pPr lvl="0"/>
            <a:r>
              <a:rPr/>
              <a:t>Case study: a temporal reframing savings experiment, run twice (N=20, then N=400) and checked against a real published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4777740"/>
            <a:ext cx="5486400" cy="27432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l"/>
            <a:r>
              <a:rPr sz="900">
                <a:solidFill>
                  <a:srgbClr val="595959"/>
                </a:solidFill>
              </a:rPr>
              <a:t>Copyright © 2026 Behavioral Research Workshop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21040" y="4732020"/>
            <a:ext cx="548640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200" b="1">
                <a:solidFill>
                  <a:srgbClr val="1F4E79"/>
                </a:solidFill>
              </a:rPr>
              <a:t>2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Conceptual Architecture</a:t>
            </a:r>
          </a:p>
        </p:txBody>
      </p:sp>
      <p:pic>
        <p:nvPicPr>
          <p:cNvPr descr="assets/architecture_diagram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082800" y="1193800"/>
            <a:ext cx="49784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3" name="TextBox 2"/>
          <p:cNvSpPr txBox="1"/>
          <p:nvPr/>
        </p:nvSpPr>
        <p:spPr>
          <a:xfrm>
            <a:off x="274320" y="4777740"/>
            <a:ext cx="5486400" cy="27432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l"/>
            <a:r>
              <a:rPr sz="900">
                <a:solidFill>
                  <a:srgbClr val="595959"/>
                </a:solidFill>
              </a:rPr>
              <a:t>Copyright © 2026 Behavioral Research Workshop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0" y="4732020"/>
            <a:ext cx="548640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200" b="1">
                <a:solidFill>
                  <a:srgbClr val="1F4E79"/>
                </a:solidFill>
              </a:rPr>
              <a:t>3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is VS Code? What is Claude Code?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VS Code</a:t>
            </a:r>
            <a:r>
              <a:rPr/>
              <a:t>: a code editor – where you view/edit files, open a terminal, browse the project</a:t>
            </a:r>
          </a:p>
          <a:p>
            <a:pPr lvl="0"/>
            <a:r>
              <a:rPr b="1"/>
              <a:t>Claude Code</a:t>
            </a:r>
            <a:r>
              <a:rPr/>
              <a:t>: an AI agent that runs inside (or alongside) VS Code</a:t>
            </a:r>
          </a:p>
          <a:p>
            <a:pPr lvl="1"/>
            <a:r>
              <a:rPr/>
              <a:t>Reads and writes files, runs terminal commands, executes Python scripts</a:t>
            </a:r>
          </a:p>
          <a:p>
            <a:pPr lvl="1"/>
            <a:r>
              <a:rPr/>
              <a:t>Follows </a:t>
            </a:r>
            <a:r>
              <a:rPr b="1"/>
              <a:t>Skills</a:t>
            </a:r>
            <a:r>
              <a:rPr/>
              <a:t> – written instructions for a specific recurring task</a:t>
            </a:r>
          </a:p>
          <a:p>
            <a:pPr lvl="1"/>
            <a:r>
              <a:rPr/>
              <a:t>Can spawn </a:t>
            </a:r>
            <a:r>
              <a:rPr b="1"/>
              <a:t>subagents</a:t>
            </a:r>
            <a:r>
              <a:rPr/>
              <a:t>: independent Claude conversations for parallel work (this is how we simulate many subjects at once)</a:t>
            </a:r>
          </a:p>
          <a:p>
            <a:pPr lvl="0"/>
            <a:r>
              <a:rPr/>
              <a:t>You talk to Claude Code in plain English; it takes the actions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4777740"/>
            <a:ext cx="5486400" cy="27432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l"/>
            <a:r>
              <a:rPr sz="900">
                <a:solidFill>
                  <a:srgbClr val="595959"/>
                </a:solidFill>
              </a:rPr>
              <a:t>Copyright © 2026 Behavioral Research Workshop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21040" y="4732020"/>
            <a:ext cx="548640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200" b="1">
                <a:solidFill>
                  <a:srgbClr val="1F4E79"/>
                </a:solidFill>
              </a:rPr>
              <a:t>4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it looks like in practice</a:t>
            </a:r>
          </a:p>
        </p:txBody>
      </p:sp>
      <p:pic>
        <p:nvPicPr>
          <p:cNvPr descr="assets/mockup_setup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247900" y="1193800"/>
            <a:ext cx="46482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No shell commands to memorize – you describe the goal in the chat panel and Claude Code does the work.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777740"/>
            <a:ext cx="5486400" cy="27432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l"/>
            <a:r>
              <a:rPr sz="900">
                <a:solidFill>
                  <a:srgbClr val="595959"/>
                </a:solidFill>
              </a:rPr>
              <a:t>Copyright © 2026 Behavioral Research Workshop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0" y="4732020"/>
            <a:ext cx="548640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200" b="1">
                <a:solidFill>
                  <a:srgbClr val="1F4E79"/>
                </a:solidFill>
              </a:rPr>
              <a:t>5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How to read the rest of this deck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The next few slides show this same pattern for every research stage: a chat mockup first, plain and simple</a:t>
            </a:r>
          </a:p>
          <a:p>
            <a:pPr lvl="0"/>
            <a:r>
              <a:rPr/>
              <a:t>Slides marked </a:t>
            </a:r>
            <a:r>
              <a:rPr i="1"/>
              <a:t>“Under the hood”</a:t>
            </a:r>
            <a:r>
              <a:rPr/>
              <a:t> are optional depth for the curious – skip them if plain English is all you need</a:t>
            </a:r>
          </a:p>
          <a:p>
            <a:pPr lvl="0"/>
            <a:r>
              <a:rPr/>
              <a:t>Nothing under the hood is required reading to use the workflow yourself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4777740"/>
            <a:ext cx="5486400" cy="27432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l"/>
            <a:r>
              <a:rPr sz="900">
                <a:solidFill>
                  <a:srgbClr val="595959"/>
                </a:solidFill>
              </a:rPr>
              <a:t>Copyright © 2026 Behavioral Research Workshop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21040" y="4732020"/>
            <a:ext cx="548640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200" b="1">
                <a:solidFill>
                  <a:srgbClr val="1F4E79"/>
                </a:solidFill>
              </a:rPr>
              <a:t>6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Tooling stack </a:t>
            </a:r>
            <a:r>
              <a:rPr i="1"/>
              <a:t>(under the hood)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Python</a:t>
            </a:r>
            <a:r>
              <a:rPr/>
              <a:t> – sampling, statistics, chart generation (pandas, numpy, scipy, statsmodels, matplotlib)</a:t>
            </a:r>
          </a:p>
          <a:p>
            <a:pPr lvl="0"/>
            <a:r>
              <a:rPr b="1"/>
              <a:t>git + GitHub</a:t>
            </a:r>
            <a:r>
              <a:rPr/>
              <a:t> – version control, collaboration, backup</a:t>
            </a:r>
          </a:p>
          <a:p>
            <a:pPr lvl="0"/>
            <a:r>
              <a:rPr b="1"/>
              <a:t>VS Code + Claude Code</a:t>
            </a:r>
            <a:r>
              <a:rPr/>
              <a:t> – the environment this all runs in</a:t>
            </a:r>
          </a:p>
          <a:p>
            <a:pPr lvl="0"/>
            <a:r>
              <a:rPr b="1"/>
              <a:t>pandoc</a:t>
            </a:r>
            <a:r>
              <a:rPr/>
              <a:t> – converts markdown into docx / pptx / pdf (used for writeups, this deck, and the workbook)</a:t>
            </a:r>
          </a:p>
          <a:p>
            <a:pPr lvl="0"/>
            <a:r>
              <a:rPr/>
              <a:t>All of it installed and configured </a:t>
            </a:r>
            <a:r>
              <a:rPr i="1"/>
              <a:t>by</a:t>
            </a:r>
            <a:r>
              <a:rPr/>
              <a:t> Claude Code, conversationally – you don’t have to type any of what follows yourself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4777740"/>
            <a:ext cx="5486400" cy="27432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l"/>
            <a:r>
              <a:rPr sz="900">
                <a:solidFill>
                  <a:srgbClr val="595959"/>
                </a:solidFill>
              </a:rPr>
              <a:t>Copyright © 2026 Behavioral Research Workshop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21040" y="4732020"/>
            <a:ext cx="548640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200" b="1">
                <a:solidFill>
                  <a:srgbClr val="1F4E79"/>
                </a:solidFill>
              </a:rPr>
              <a:t>7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Concrete setup, warts and all </a:t>
            </a:r>
            <a:r>
              <a:rPr i="1"/>
              <a:t>(under the hood)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>
                <a:latin typeface="Courier"/>
              </a:rPr>
              <a:t>python -m venv .venv</a:t>
            </a:r>
            <a:r>
              <a:rPr/>
              <a:t> then </a:t>
            </a:r>
            <a:r>
              <a:rPr>
                <a:latin typeface="Courier"/>
              </a:rPr>
              <a:t>pip install -r scripts/requirements.txt</a:t>
            </a:r>
          </a:p>
          <a:p>
            <a:pPr lvl="0"/>
            <a:r>
              <a:rPr>
                <a:latin typeface="Courier"/>
              </a:rPr>
              <a:t>git init</a:t>
            </a:r>
            <a:r>
              <a:rPr/>
              <a:t>, then </a:t>
            </a:r>
            <a:r>
              <a:rPr>
                <a:latin typeface="Courier"/>
              </a:rPr>
              <a:t>gh repo create --private --source=. --push</a:t>
            </a:r>
          </a:p>
          <a:p>
            <a:pPr lvl="0"/>
            <a:r>
              <a:rPr/>
              <a:t>Real snags hit along the way (useful to know, not just theory):</a:t>
            </a:r>
          </a:p>
          <a:p>
            <a:pPr lvl="1"/>
            <a:r>
              <a:rPr>
                <a:latin typeface="Courier"/>
              </a:rPr>
              <a:t>winget install</a:t>
            </a:r>
            <a:r>
              <a:rPr/>
              <a:t> needed </a:t>
            </a:r>
            <a:r>
              <a:rPr>
                <a:latin typeface="Courier"/>
              </a:rPr>
              <a:t>--scope user</a:t>
            </a:r>
            <a:r>
              <a:rPr/>
              <a:t> to dodge an admin-elevation prompt that silently failed in a non-interactive shell</a:t>
            </a:r>
          </a:p>
          <a:p>
            <a:pPr lvl="1"/>
            <a:r>
              <a:rPr/>
              <a:t>PATH changes don’t persist between separate terminal commands – each one needs its own PATH refresh</a:t>
            </a:r>
          </a:p>
          <a:p>
            <a:pPr lvl="1"/>
            <a:r>
              <a:rPr/>
              <a:t>pandoc needs </a:t>
            </a:r>
            <a:r>
              <a:rPr>
                <a:latin typeface="Courier"/>
              </a:rPr>
              <a:t>--resource-path</a:t>
            </a:r>
            <a:r>
              <a:rPr/>
              <a:t> to find images referenced by relative path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4777740"/>
            <a:ext cx="5486400" cy="27432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l"/>
            <a:r>
              <a:rPr sz="900">
                <a:solidFill>
                  <a:srgbClr val="595959"/>
                </a:solidFill>
              </a:rPr>
              <a:t>Copyright © 2026 Behavioral Research Workshop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21040" y="4732020"/>
            <a:ext cx="548640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200" b="1">
                <a:solidFill>
                  <a:srgbClr val="1F4E79"/>
                </a:solidFill>
              </a:rPr>
              <a:t>8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Resulting project layout </a:t>
            </a:r>
            <a:r>
              <a:rPr i="1"/>
              <a:t>(under the hood)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behavioral-research-env/
  .claude/skills/          &lt;- one SKILL.md per workflow stage
  scripts/
    synthetic_sample/      &lt;- population sampling, batch building
    analysis/               &lt;- balance check, regression, charts
  projects/
    &lt;study-slug&gt;/
      03_design/            &lt;- stimuli, population spec, variables
      04_synthetic_test/    &lt;- sampled subjects, responses, data
      05_analysis/          &lt;- balance report, regressions, charts
      07_writeup/           &lt;- generated writeup (md + docx)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4777740"/>
            <a:ext cx="5486400" cy="27432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l"/>
            <a:r>
              <a:rPr sz="900">
                <a:solidFill>
                  <a:srgbClr val="595959"/>
                </a:solidFill>
              </a:rPr>
              <a:t>Copyright © 2026 Behavioral Research Workshop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21040" y="4732020"/>
            <a:ext cx="548640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200" b="1">
                <a:solidFill>
                  <a:srgbClr val="1F4E79"/>
                </a:solidFill>
              </a:rPr>
              <a:t>9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9-stage behavioral research pipeline</a:t>
            </a:r>
          </a:p>
        </p:txBody>
      </p:sp>
      <p:pic>
        <p:nvPicPr>
          <p:cNvPr descr="assets/pipeline_diagram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876300" y="1193800"/>
            <a:ext cx="74041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3" name="TextBox 2"/>
          <p:cNvSpPr txBox="1"/>
          <p:nvPr/>
        </p:nvSpPr>
        <p:spPr>
          <a:xfrm>
            <a:off x="274320" y="4777740"/>
            <a:ext cx="5486400" cy="27432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l"/>
            <a:r>
              <a:rPr sz="900">
                <a:solidFill>
                  <a:srgbClr val="595959"/>
                </a:solidFill>
              </a:rPr>
              <a:t>Copyright © 2026 Behavioral Research Workshop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0" y="4732020"/>
            <a:ext cx="548640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200" b="1">
                <a:solidFill>
                  <a:srgbClr val="1F4E79"/>
                </a:solidFill>
              </a:rPr>
              <a:t>10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Scoping calls: what we built, and why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Built</a:t>
            </a:r>
            <a:r>
              <a:rPr/>
              <a:t>: Stages 3, 4, 5, 7 – the empirical core (design -&gt; test -&gt; analyze -&gt; write up)</a:t>
            </a:r>
          </a:p>
          <a:p>
            <a:pPr lvl="0"/>
            <a:r>
              <a:rPr b="1"/>
              <a:t>Deferred</a:t>
            </a:r>
            <a:r>
              <a:rPr/>
              <a:t>: Stages 1, 2, 6, 8, 9 – audit/ideation/presentation/revision/feedback need more conversational nuance than a fixed pipeline</a:t>
            </a:r>
          </a:p>
          <a:p>
            <a:pPr lvl="0"/>
            <a:r>
              <a:rPr b="1"/>
              <a:t>Deferred within Stage 5</a:t>
            </a:r>
            <a:r>
              <a:rPr/>
              <a:t>: mediation and moderation analysis – real methods (Query Theory, floodlight analysis), cut for v1 scope, not because they don’t matter</a:t>
            </a:r>
          </a:p>
          <a:p>
            <a:pPr lvl="0"/>
            <a:r>
              <a:rPr/>
              <a:t>Lesson: scope a v1 tightly around what you can validate end-to-end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4777740"/>
            <a:ext cx="5486400" cy="27432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l"/>
            <a:r>
              <a:rPr sz="900">
                <a:solidFill>
                  <a:srgbClr val="595959"/>
                </a:solidFill>
              </a:rPr>
              <a:t>Copyright © 2026 Behavioral Research Workshop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21040" y="4732020"/>
            <a:ext cx="548640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200" b="1">
                <a:solidFill>
                  <a:srgbClr val="1F4E79"/>
                </a:solidFill>
              </a:rPr>
              <a:t>11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Design principle: each stage is a Skill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A </a:t>
            </a:r>
            <a:r>
              <a:rPr b="1"/>
              <a:t>Skill</a:t>
            </a:r>
            <a:r>
              <a:rPr/>
              <a:t> = a markdown file (</a:t>
            </a:r>
            <a:r>
              <a:rPr>
                <a:latin typeface="Courier"/>
              </a:rPr>
              <a:t>SKILL.md</a:t>
            </a:r>
            <a:r>
              <a:rPr/>
              <a:t>) with a name, a description (when to use it), and instructions</a:t>
            </a:r>
          </a:p>
          <a:p>
            <a:pPr lvl="0"/>
            <a:r>
              <a:rPr/>
              <a:t>Claude Code reads the skill and follows it like a checklist/procedure</a:t>
            </a:r>
          </a:p>
          <a:p>
            <a:pPr lvl="0"/>
            <a:r>
              <a:rPr/>
              <a:t>Heavy lifting (statistics, sampling) lives in </a:t>
            </a:r>
            <a:r>
              <a:rPr b="1"/>
              <a:t>Python scripts</a:t>
            </a:r>
            <a:r>
              <a:rPr/>
              <a:t> the skill calls out to</a:t>
            </a:r>
          </a:p>
          <a:p>
            <a:pPr lvl="0"/>
            <a:r>
              <a:rPr/>
              <a:t>Why split it this way: skills handle judgment and conversation; scripts handle anything that needs to be exactly reproducible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4777740"/>
            <a:ext cx="5486400" cy="27432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l"/>
            <a:r>
              <a:rPr sz="900">
                <a:solidFill>
                  <a:srgbClr val="595959"/>
                </a:solidFill>
              </a:rPr>
              <a:t>Copyright © 2026 Behavioral Research Workshop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21040" y="4732020"/>
            <a:ext cx="548640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200" b="1">
                <a:solidFill>
                  <a:srgbClr val="1F4E79"/>
                </a:solidFill>
              </a:rPr>
              <a:t>12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a Skill actually looks like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This project’s real </a:t>
            </a:r>
            <a:r>
              <a:rPr>
                <a:latin typeface="Courier"/>
              </a:rPr>
              <a:t>behavioral-design/SKILL.md</a:t>
            </a:r>
            <a:r>
              <a:rPr/>
              <a:t> (trimmed):</a:t>
            </a:r>
          </a:p>
          <a:p>
            <a:pPr lvl="0" indent="0">
              <a:buNone/>
            </a:pPr>
            <a:r>
              <a:rPr>
                <a:latin typeface="Courier"/>
              </a:rPr>
              <a:t>---
name: behavioral-design
description: Stage 3 of the behavioral research workflow. Use when
  the user wants to set up a control-vs-treatment behavioral test...
---
## Required inputs
1. Control condition stimulus
2. Treatment condition stimulus
3. Population to sample
4. Outcome variable
Do not ask about idea generation, alternative conditions, or design
strategy -- there is exactly one control and one treatment condition.</a:t>
            </a:r>
          </a:p>
          <a:p>
            <a:pPr lvl="0"/>
            <a:r>
              <a:rPr>
                <a:latin typeface="Courier"/>
              </a:rPr>
              <a:t>name</a:t>
            </a:r>
            <a:r>
              <a:rPr/>
              <a:t> + </a:t>
            </a:r>
            <a:r>
              <a:rPr>
                <a:latin typeface="Courier"/>
              </a:rPr>
              <a:t>description</a:t>
            </a:r>
            <a:r>
              <a:rPr/>
              <a:t> tell Claude Code </a:t>
            </a:r>
            <a:r>
              <a:rPr i="1"/>
              <a:t>when</a:t>
            </a:r>
            <a:r>
              <a:rPr/>
              <a:t> to use this skill</a:t>
            </a:r>
          </a:p>
          <a:p>
            <a:pPr lvl="0"/>
            <a:r>
              <a:rPr/>
              <a:t>The body is plain-English instructions – not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4777740"/>
            <a:ext cx="5486400" cy="27432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l"/>
            <a:r>
              <a:rPr sz="900">
                <a:solidFill>
                  <a:srgbClr val="595959"/>
                </a:solidFill>
              </a:rPr>
              <a:t>Copyright © 2026 Behavioral Research Workshop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21040" y="4732020"/>
            <a:ext cx="548640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200" b="1">
                <a:solidFill>
                  <a:srgbClr val="1F4E79"/>
                </a:solidFill>
              </a:rPr>
              <a:t>13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Stage 3 in practice</a:t>
            </a:r>
          </a:p>
        </p:txBody>
      </p:sp>
      <p:pic>
        <p:nvPicPr>
          <p:cNvPr descr="assets/mockup_stage3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247900" y="1193800"/>
            <a:ext cx="46482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You describe your stimuli, population, and outcome in plain language – Claude Code turns it into a structured design package. No file formats to learn.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777740"/>
            <a:ext cx="5486400" cy="27432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l"/>
            <a:r>
              <a:rPr sz="900">
                <a:solidFill>
                  <a:srgbClr val="595959"/>
                </a:solidFill>
              </a:rPr>
              <a:t>Copyright © 2026 Behavioral Research Workshop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0" y="4732020"/>
            <a:ext cx="548640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200" b="1">
                <a:solidFill>
                  <a:srgbClr val="1F4E79"/>
                </a:solidFill>
              </a:rPr>
              <a:t>14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Stage 3: design intake </a:t>
            </a:r>
            <a:r>
              <a:rPr i="1"/>
              <a:t>(under the hood)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Researcher provides: control stimulus, treatment stimulus, population description, outcome variable(s)</a:t>
            </a:r>
          </a:p>
          <a:p>
            <a:pPr lvl="0"/>
            <a:r>
              <a:rPr/>
              <a:t>Skill validates completeness, asks only about genuine gaps</a:t>
            </a:r>
          </a:p>
          <a:p>
            <a:pPr lvl="0"/>
            <a:r>
              <a:rPr/>
              <a:t>Produces a structured design package: </a:t>
            </a:r>
            <a:r>
              <a:rPr>
                <a:latin typeface="Courier"/>
              </a:rPr>
              <a:t>research_design.md</a:t>
            </a:r>
            <a:r>
              <a:rPr/>
              <a:t>, </a:t>
            </a:r>
            <a:r>
              <a:rPr>
                <a:latin typeface="Courier"/>
              </a:rPr>
              <a:t>stimuli/*.md</a:t>
            </a:r>
            <a:r>
              <a:rPr/>
              <a:t>, </a:t>
            </a:r>
            <a:r>
              <a:rPr>
                <a:latin typeface="Courier"/>
              </a:rPr>
              <a:t>population_spec.md</a:t>
            </a:r>
            <a:r>
              <a:rPr/>
              <a:t>, </a:t>
            </a:r>
            <a:r>
              <a:rPr>
                <a:latin typeface="Courier"/>
              </a:rPr>
              <a:t>variables_spec.md</a:t>
            </a:r>
          </a:p>
          <a:p>
            <a:pPr lvl="0"/>
            <a:r>
              <a:rPr/>
              <a:t>Deliberately </a:t>
            </a:r>
            <a:r>
              <a:rPr i="1"/>
              <a:t>not</a:t>
            </a:r>
            <a:r>
              <a:rPr/>
              <a:t> a full ideation engine – this version assumes the researcher already knows what they want to test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4777740"/>
            <a:ext cx="5486400" cy="27432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l"/>
            <a:r>
              <a:rPr sz="900">
                <a:solidFill>
                  <a:srgbClr val="595959"/>
                </a:solidFill>
              </a:rPr>
              <a:t>Copyright © 2026 Behavioral Research Workshop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21040" y="4732020"/>
            <a:ext cx="548640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200" b="1">
                <a:solidFill>
                  <a:srgbClr val="1F4E79"/>
                </a:solidFill>
              </a:rPr>
              <a:t>15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Stage 4 in practice</a:t>
            </a:r>
          </a:p>
        </p:txBody>
      </p:sp>
      <p:pic>
        <p:nvPicPr>
          <p:cNvPr descr="assets/mockup_stage4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247900" y="1193800"/>
            <a:ext cx="46482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You state a sample size and let Claude Code handle sampling and simulation – behind this one message: population sampling, condition assignment, and dozens of simulated subject batches.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777740"/>
            <a:ext cx="5486400" cy="27432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l"/>
            <a:r>
              <a:rPr sz="900">
                <a:solidFill>
                  <a:srgbClr val="595959"/>
                </a:solidFill>
              </a:rPr>
              <a:t>Copyright © 2026 Behavioral Research Workshop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0" y="4732020"/>
            <a:ext cx="548640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200" b="1">
                <a:solidFill>
                  <a:srgbClr val="1F4E79"/>
                </a:solidFill>
              </a:rPr>
              <a:t>16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Stage 4: population sampling </a:t>
            </a:r>
            <a:r>
              <a:rPr i="1"/>
              <a:t>(under the hood)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Demographics + individual differences sampled from researcher-specified means/SDs (age, income, financial literacy, numeracy…)</a:t>
            </a:r>
          </a:p>
          <a:p>
            <a:pPr lvl="0"/>
            <a:r>
              <a:rPr/>
              <a:t>Correlated variables drawn via a </a:t>
            </a:r>
            <a:r>
              <a:rPr b="1"/>
              <a:t>Gaussian copula</a:t>
            </a:r>
            <a:r>
              <a:rPr/>
              <a:t> so specified correlations (e.g. income &lt;-&gt; financial literacy) are respected</a:t>
            </a:r>
          </a:p>
          <a:p>
            <a:pPr lvl="0"/>
            <a:r>
              <a:rPr/>
              <a:t>Ordinal/count variables (income bracket, literacy score) rounded to valid values</a:t>
            </a:r>
          </a:p>
          <a:p>
            <a:pPr lvl="0"/>
            <a:r>
              <a:rPr/>
              <a:t>Random, independent assignment to condition – same mechanics as a real RCT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4777740"/>
            <a:ext cx="5486400" cy="27432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l"/>
            <a:r>
              <a:rPr sz="900">
                <a:solidFill>
                  <a:srgbClr val="595959"/>
                </a:solidFill>
              </a:rPr>
              <a:t>Copyright © 2026 Behavioral Research Workshop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21040" y="4732020"/>
            <a:ext cx="548640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200" b="1">
                <a:solidFill>
                  <a:srgbClr val="1F4E79"/>
                </a:solidFill>
              </a:rPr>
              <a:t>17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Stage 4: subagent batching + blinding </a:t>
            </a:r>
            <a:r>
              <a:rPr i="1"/>
              <a:t>(under the hood)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Each </a:t>
            </a:r>
            <a:r>
              <a:rPr b="1"/>
              <a:t>subagent</a:t>
            </a:r>
            <a:r>
              <a:rPr/>
              <a:t> simulates a batch of ~10 subjects in one call – batching matters:</a:t>
            </a:r>
          </a:p>
          <a:p>
            <a:pPr lvl="1"/>
            <a:r>
              <a:rPr/>
              <a:t>Batch size 2: ~9,875 tokens/subject</a:t>
            </a:r>
          </a:p>
          <a:p>
            <a:pPr lvl="1"/>
            <a:r>
              <a:rPr/>
              <a:t>Batch size 10: ~2,588 tokens/subject (</a:t>
            </a:r>
            <a:r>
              <a:rPr b="1"/>
              <a:t>~4x more efficient</a:t>
            </a:r>
            <a:r>
              <a:rPr/>
              <a:t>)</a:t>
            </a:r>
          </a:p>
          <a:p>
            <a:pPr lvl="0"/>
            <a:r>
              <a:rPr/>
              <a:t>Subjects respond in-persona based on their sampled profile, not as “an AI”</a:t>
            </a:r>
          </a:p>
          <a:p>
            <a:pPr lvl="0"/>
            <a:r>
              <a:rPr b="1"/>
              <a:t>Blinding feature</a:t>
            </a:r>
            <a:r>
              <a:rPr/>
              <a:t>: conditions can be tracked under neutral labels (Condition A/B) until the researcher chooses to reveal which is treatment – avoids analyst bias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4777740"/>
            <a:ext cx="5486400" cy="27432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l"/>
            <a:r>
              <a:rPr sz="900">
                <a:solidFill>
                  <a:srgbClr val="595959"/>
                </a:solidFill>
              </a:rPr>
              <a:t>Copyright © 2026 Behavioral Research Workshop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21040" y="4732020"/>
            <a:ext cx="548640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200" b="1">
                <a:solidFill>
                  <a:srgbClr val="1F4E79"/>
                </a:solidFill>
              </a:rPr>
              <a:t>18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Stage 4: what the data actually looks like </a:t>
            </a:r>
            <a:r>
              <a:rPr i="1"/>
              <a:t>(under the hood)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Every simulated subject becomes one row of </a:t>
            </a:r>
            <a:r>
              <a:rPr>
                <a:latin typeface="Courier"/>
              </a:rPr>
              <a:t>subjects_data.csv</a:t>
            </a:r>
            <a:r>
              <a:rPr/>
              <a:t> (real rows shown, from this workshop’s own N=400 run):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0900"/>
                <a:gridCol w="850900"/>
                <a:gridCol w="850900"/>
                <a:gridCol w="850900"/>
                <a:gridCol w="850900"/>
                <a:gridCol w="8509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subject_id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condition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choice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affordability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clarity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S00001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32.3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condition_1 (treatment)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Yes, start saving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S00005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28.9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condition_2 (control)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Not now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274320" y="4777740"/>
            <a:ext cx="5486400" cy="27432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l"/>
            <a:r>
              <a:rPr sz="900">
                <a:solidFill>
                  <a:srgbClr val="595959"/>
                </a:solidFill>
              </a:rPr>
              <a:t>Copyright © 2026 Behavioral Research Workshop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4732020"/>
            <a:ext cx="548640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200" b="1">
                <a:solidFill>
                  <a:srgbClr val="1F4E79"/>
                </a:solidFill>
              </a:rPr>
              <a:t>19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Stage 5 in practice</a:t>
            </a:r>
          </a:p>
        </p:txBody>
      </p:sp>
      <p:pic>
        <p:nvPicPr>
          <p:cNvPr descr="assets/mockup_stage5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247900" y="1193800"/>
            <a:ext cx="46482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One message gets you a balance check, a regression, and a chart – plain-English results first, statistical detail if you want it.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777740"/>
            <a:ext cx="5486400" cy="27432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l"/>
            <a:r>
              <a:rPr sz="900">
                <a:solidFill>
                  <a:srgbClr val="595959"/>
                </a:solidFill>
              </a:rPr>
              <a:t>Copyright © 2026 Behavioral Research Workshop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0" y="4732020"/>
            <a:ext cx="548640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200" b="1">
                <a:solidFill>
                  <a:srgbClr val="1F4E79"/>
                </a:solidFill>
              </a:rPr>
              <a:t>20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Stage 5: analysis pipeline </a:t>
            </a:r>
            <a:r>
              <a:rPr i="1"/>
              <a:t>(under the hood)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Balance check</a:t>
            </a:r>
            <a:r>
              <a:rPr/>
              <a:t> – are demographics/individual differences actually balanced across conditions? (chi-sq, F-test, Bartlett’s)</a:t>
            </a:r>
          </a:p>
          <a:p>
            <a:pPr lvl="0"/>
            <a:r>
              <a:rPr b="1"/>
              <a:t>Regression</a:t>
            </a:r>
            <a:r>
              <a:rPr/>
              <a:t> – OLS or logit, with/without controls, on the primary and secondary outcomes</a:t>
            </a:r>
          </a:p>
          <a:p>
            <a:pPr lvl="0"/>
            <a:r>
              <a:rPr b="1"/>
              <a:t>Charts</a:t>
            </a:r>
            <a:r>
              <a:rPr/>
              <a:t> – outcome-by-condition bar charts with standard errors</a:t>
            </a:r>
          </a:p>
          <a:p>
            <a:pPr lvl="0"/>
            <a:r>
              <a:rPr/>
              <a:t>A real bug caught here: pandas 3.0’s new string dtype silently broke a dtype check – always verify assumptions on real output, don’t trust silently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4777740"/>
            <a:ext cx="5486400" cy="27432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l"/>
            <a:r>
              <a:rPr sz="900">
                <a:solidFill>
                  <a:srgbClr val="595959"/>
                </a:solidFill>
              </a:rPr>
              <a:t>Copyright © 2026 Behavioral Research Workshop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21040" y="4732020"/>
            <a:ext cx="548640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200" b="1">
                <a:solidFill>
                  <a:srgbClr val="1F4E79"/>
                </a:solidFill>
              </a:rPr>
              <a:t>21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Stage 7 in practice</a:t>
            </a:r>
          </a:p>
        </p:txBody>
      </p:sp>
      <p:pic>
        <p:nvPicPr>
          <p:cNvPr descr="assets/mockup_stage7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247900" y="1193800"/>
            <a:ext cx="46482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One message produces a Word-ready document you can open, edit, and share – optionally compared against a published study’s statistics.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777740"/>
            <a:ext cx="5486400" cy="27432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l"/>
            <a:r>
              <a:rPr sz="900">
                <a:solidFill>
                  <a:srgbClr val="595959"/>
                </a:solidFill>
              </a:rPr>
              <a:t>Copyright © 2026 Behavioral Research Workshop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0" y="4732020"/>
            <a:ext cx="548640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200" b="1">
                <a:solidFill>
                  <a:srgbClr val="1F4E79"/>
                </a:solidFill>
              </a:rPr>
              <a:t>22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Stage 7: writeup + reference comparison </a:t>
            </a:r>
            <a:r>
              <a:rPr i="1"/>
              <a:t>(under the hood)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Assembles Method, Balance, and Results sections from the Stage 5 outputs into a single document</a:t>
            </a:r>
          </a:p>
          <a:p>
            <a:pPr lvl="0"/>
            <a:r>
              <a:rPr/>
              <a:t>Markdown -&gt; </a:t>
            </a:r>
            <a:r>
              <a:rPr b="1"/>
              <a:t>pandoc</a:t>
            </a:r>
            <a:r>
              <a:rPr/>
              <a:t> -&gt; Word (.docx)</a:t>
            </a:r>
          </a:p>
          <a:p>
            <a:pPr lvl="0"/>
            <a:r>
              <a:rPr/>
              <a:t>Optional section: compare this run’s statistics against a </a:t>
            </a:r>
            <a:r>
              <a:rPr b="1"/>
              <a:t>published reference study</a:t>
            </a:r>
            <a:r>
              <a:rPr/>
              <a:t>, with an explicit, stated classification rule (replicates / partially replicates / does not replicate)</a:t>
            </a:r>
          </a:p>
          <a:p>
            <a:pPr lvl="0"/>
            <a:r>
              <a:rPr/>
              <a:t>Mediation/moderation excluded, matching Stage 5’s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4777740"/>
            <a:ext cx="5486400" cy="27432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l"/>
            <a:r>
              <a:rPr sz="900">
                <a:solidFill>
                  <a:srgbClr val="595959"/>
                </a:solidFill>
              </a:rPr>
              <a:t>Copyright © 2026 Behavioral Research Workshop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21040" y="4732020"/>
            <a:ext cx="548640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200" b="1">
                <a:solidFill>
                  <a:srgbClr val="1F4E79"/>
                </a:solidFill>
              </a:rPr>
              <a:t>23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design: temporal reframing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/>
              <a:t>“Investing on a regular basis is one of the best ways to grow your wealth. You can get started with </a:t>
            </a:r>
            <a:r>
              <a:rPr sz="2000" b="1"/>
              <a:t>$5 a day</a:t>
            </a:r>
            <a:r>
              <a:rPr sz="2000"/>
              <a:t> today.” </a:t>
            </a:r>
            <a:r>
              <a:rPr sz="2000" i="1"/>
              <a:t>(treatment)</a:t>
            </a:r>
          </a:p>
          <a:p>
            <a:pPr lvl="0" indent="0" marL="1270000">
              <a:buNone/>
            </a:pPr>
            <a:r>
              <a:rPr sz="2000"/>
              <a:t>“…with </a:t>
            </a:r>
            <a:r>
              <a:rPr sz="2000" b="1"/>
              <a:t>$150 a month</a:t>
            </a:r>
            <a:r>
              <a:rPr sz="2000"/>
              <a:t> today.” </a:t>
            </a:r>
            <a:r>
              <a:rPr sz="2000" i="1"/>
              <a:t>(control)</a:t>
            </a:r>
          </a:p>
          <a:p>
            <a:pPr lvl="0"/>
            <a:r>
              <a:rPr/>
              <a:t>Same underlying amount ($5/day ~= $150/month), different framing granularity</a:t>
            </a:r>
          </a:p>
          <a:p>
            <a:pPr lvl="0"/>
            <a:r>
              <a:rPr/>
              <a:t>Outcome: sign-up decision + self-reported affordability + self-reported understandability (both 1-7 Likert)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4777740"/>
            <a:ext cx="5486400" cy="27432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l"/>
            <a:r>
              <a:rPr sz="900">
                <a:solidFill>
                  <a:srgbClr val="595959"/>
                </a:solidFill>
              </a:rPr>
              <a:t>Copyright © 2026 Behavioral Research Workshop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21040" y="4732020"/>
            <a:ext cx="548640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200" b="1">
                <a:solidFill>
                  <a:srgbClr val="1F4E79"/>
                </a:solidFill>
              </a:rPr>
              <a:t>24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Pilot: N=20, blinded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10 subjects/condition, subagent mode, condition labels withheld from the analyst</a:t>
            </a:r>
          </a:p>
          <a:p>
            <a:pPr lvl="0"/>
            <a:r>
              <a:rPr/>
              <a:t>Sign-up rate: 80% vs. 40% – directionally large, but only marginal at this N (p ~ .08 across all three outcomes)</a:t>
            </a:r>
          </a:p>
          <a:p>
            <a:pPr lvl="0"/>
            <a:r>
              <a:rPr/>
              <a:t>Purpose of a pilot: catch pipeline problems and get a directional read cheaply before committing to a larger run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4777740"/>
            <a:ext cx="5486400" cy="27432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l"/>
            <a:r>
              <a:rPr sz="900">
                <a:solidFill>
                  <a:srgbClr val="595959"/>
                </a:solidFill>
              </a:rPr>
              <a:t>Copyright © 2026 Behavioral Research Workshop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21040" y="4732020"/>
            <a:ext cx="548640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200" b="1">
                <a:solidFill>
                  <a:srgbClr val="1F4E79"/>
                </a:solidFill>
              </a:rPr>
              <a:t>25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Unblind, then decide to scale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Researcher reveals: Condition 1 = treatment ($5/day), Condition 2 = control ($150/month)</a:t>
            </a:r>
          </a:p>
          <a:p>
            <a:pPr lvl="0"/>
            <a:r>
              <a:rPr/>
              <a:t>Re-run regressions with the correct reference category – coefficients flip sign as expected, same magnitude</a:t>
            </a:r>
          </a:p>
          <a:p>
            <a:pPr lvl="0"/>
            <a:r>
              <a:rPr/>
              <a:t>Decision: scale to N=400 (200/condition) to get a properly powered read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4777740"/>
            <a:ext cx="5486400" cy="27432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l"/>
            <a:r>
              <a:rPr sz="900">
                <a:solidFill>
                  <a:srgbClr val="595959"/>
                </a:solidFill>
              </a:rPr>
              <a:t>Copyright © 2026 Behavioral Research Workshop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21040" y="4732020"/>
            <a:ext cx="548640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200" b="1">
                <a:solidFill>
                  <a:srgbClr val="1F4E79"/>
                </a:solidFill>
              </a:rPr>
              <a:t>26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Full-scale results (N=400)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Sign-up rate: </a:t>
            </a:r>
            <a:r>
              <a:rPr b="1"/>
              <a:t>64.5% (treatment) vs. 45.5% (control)</a:t>
            </a:r>
            <a:r>
              <a:rPr/>
              <a:t>, logit B=0.82, </a:t>
            </a:r>
            <a:r>
              <a:rPr i="1"/>
              <a:t>p</a:t>
            </a:r>
            <a:r>
              <a:rPr/>
              <a:t>&lt;.001</a:t>
            </a:r>
          </a:p>
          <a:p>
            <a:pPr lvl="0"/>
            <a:r>
              <a:rPr/>
              <a:t>Affordability rating: 4.66 vs. 4.05, </a:t>
            </a:r>
            <a:r>
              <a:rPr i="1"/>
              <a:t>p</a:t>
            </a:r>
            <a:r>
              <a:rPr/>
              <a:t>&lt;.001</a:t>
            </a:r>
          </a:p>
          <a:p>
            <a:pPr lvl="0"/>
            <a:r>
              <a:rPr/>
              <a:t>Understandability rating: 5.35 vs. 5.31, </a:t>
            </a:r>
            <a:r>
              <a:rPr i="1"/>
              <a:t>p</a:t>
            </a:r>
            <a:r>
              <a:rPr/>
              <a:t>=.70 (no effect)</a:t>
            </a:r>
          </a:p>
          <a:p>
            <a:pPr lvl="0"/>
            <a:r>
              <a:rPr/>
              <a:t>Balance check flagged gender as imbalanced (p=.035) – across 6 tests, ~26% chance of at least one false positive; verified main results hold with a gender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4777740"/>
            <a:ext cx="5486400" cy="27432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l"/>
            <a:r>
              <a:rPr sz="900">
                <a:solidFill>
                  <a:srgbClr val="595959"/>
                </a:solidFill>
              </a:rPr>
              <a:t>Copyright © 2026 Behavioral Research Workshop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21040" y="4732020"/>
            <a:ext cx="548640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200" b="1">
                <a:solidFill>
                  <a:srgbClr val="1F4E79"/>
                </a:solidFill>
              </a:rPr>
              <a:t>27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The reveal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This project’s population statistics and stimulus wording turned out to match a </a:t>
            </a:r>
            <a:r>
              <a:rPr b="1"/>
              <a:t>real published study</a:t>
            </a:r>
            <a:r>
              <a:rPr/>
              <a:t> exactly (Shu, Thomas &amp; Smith, 2021, N=601 human crowdworkers):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Outcome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Real study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This synthetic run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Savings decision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B=0.72, p=.002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B=0.82, p&lt;.001 – </a:t>
                      </a:r>
                      <a:r>
                        <a:rPr b="1"/>
                        <a:t>replicates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Affordability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β=1.23, p&lt;.001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β=0.64, p&lt;.001 – </a:t>
                      </a:r>
                      <a:r>
                        <a:rPr b="1"/>
                        <a:t>replicates, ~half size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Understandability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β=0.49, p=.001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β=0.04, p=.70 – </a:t>
                      </a:r>
                      <a:r>
                        <a:rPr b="1"/>
                        <a:t>does not replicate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274320" y="4777740"/>
            <a:ext cx="5486400" cy="27432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l"/>
            <a:r>
              <a:rPr sz="900">
                <a:solidFill>
                  <a:srgbClr val="595959"/>
                </a:solidFill>
              </a:rPr>
              <a:t>Copyright © 2026 Behavioral Research Workshop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4732020"/>
            <a:ext cx="548640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200" b="1">
                <a:solidFill>
                  <a:srgbClr val="1F4E79"/>
                </a:solidFill>
              </a:rPr>
              <a:t>28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Synthetic LLM-simulated subjects can reproduce a real behavioral effect’s </a:t>
            </a:r>
            <a:r>
              <a:rPr b="1"/>
              <a:t>direction and significance</a:t>
            </a:r>
            <a:r>
              <a:rPr/>
              <a:t> for a choice outcome</a:t>
            </a:r>
          </a:p>
          <a:p>
            <a:pPr lvl="0"/>
            <a:r>
              <a:rPr/>
              <a:t>They may </a:t>
            </a:r>
            <a:r>
              <a:rPr b="1"/>
              <a:t>understate effect sizes</a:t>
            </a:r>
            <a:r>
              <a:rPr/>
              <a:t> even when direction replicates (affordability)</a:t>
            </a:r>
          </a:p>
          <a:p>
            <a:pPr lvl="0"/>
            <a:r>
              <a:rPr/>
              <a:t>They can </a:t>
            </a:r>
            <a:r>
              <a:rPr b="1"/>
              <a:t>miss a mechanism entirely</a:t>
            </a:r>
            <a:r>
              <a:rPr/>
              <a:t> (understandability) – a reminder that synthetic samples are a tool for iteration, not a substitute for real data</a:t>
            </a:r>
          </a:p>
          <a:p>
            <a:pPr lvl="0"/>
            <a:r>
              <a:rPr/>
              <a:t>Practical toolkit: skills + subagents + Python + pandoc, all orchestrated conversationally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4777740"/>
            <a:ext cx="5486400" cy="27432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l"/>
            <a:r>
              <a:rPr sz="900">
                <a:solidFill>
                  <a:srgbClr val="595959"/>
                </a:solidFill>
              </a:rPr>
              <a:t>Copyright © 2026 Behavioral Research Workshop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21040" y="4732020"/>
            <a:ext cx="548640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200" b="1">
                <a:solidFill>
                  <a:srgbClr val="1F4E79"/>
                </a:solidFill>
              </a:rPr>
              <a:t>29</a:t>
            </a:r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Questions?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Repository: this workshop’s </a:t>
            </a:r>
            <a:r>
              <a:rPr>
                <a:latin typeface="Courier"/>
              </a:rPr>
              <a:t>behavioral-research-env</a:t>
            </a:r>
            <a:r>
              <a:rPr/>
              <a:t> project</a:t>
            </a:r>
          </a:p>
          <a:p>
            <a:pPr lvl="0"/>
            <a:r>
              <a:rPr/>
              <a:t>Workbook handout has copy-paste prompt templates for every stage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4777740"/>
            <a:ext cx="5486400" cy="27432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l"/>
            <a:r>
              <a:rPr sz="900">
                <a:solidFill>
                  <a:srgbClr val="595959"/>
                </a:solidFill>
              </a:rPr>
              <a:t>Copyright © 2026 Behavioral Research Workshop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21040" y="4732020"/>
            <a:ext cx="548640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200" b="1">
                <a:solidFill>
                  <a:srgbClr val="1F4E79"/>
                </a:solidFill>
              </a:rPr>
              <a:t>30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Building an AI-Assisted Behavioral Research Workflow</dc:title>
  <dc:creator>Behavioral Research Workshop</dc:creator>
  <cp:keywords/>
  <dcterms:created xsi:type="dcterms:W3CDTF">2026-07-24T17:12:02Z</dcterms:created>
  <dcterms:modified xsi:type="dcterms:W3CDTF">2026-07-24T17:12:02Z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2026</vt:lpwstr>
  </property>
  <property fmtid="{D5CDD505-2E9C-101B-9397-08002B2CF9AE}" pid="3" name="subtitle">
    <vt:lpwstr>From environment setup to a synthetic replication of a published study</vt:lpwstr>
  </property>
</Properties>
</file>