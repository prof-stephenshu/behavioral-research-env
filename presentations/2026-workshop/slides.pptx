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Behavioral Research Workshop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VS Code</a:t>
            </a:r>
            <a:r>
              <a:rPr/>
              <a:t>: a code editor – where you view/edit files, open a terminal, browse the project</a:t>
            </a:r>
          </a:p>
          <a:p>
            <a:pPr lvl="0"/>
            <a:r>
              <a:rPr b="1"/>
              <a:t>Claude Code</a:t>
            </a:r>
            <a:r>
              <a:rPr/>
              <a:t>: an AI agent that runs inside (or alongside) VS Code</a:t>
            </a:r>
          </a:p>
          <a:p>
            <a:pPr lvl="1"/>
            <a:r>
              <a:rPr/>
              <a:t>Reads and writes files, runs terminal commands, executes Python scripts</a:t>
            </a:r>
          </a:p>
          <a:p>
            <a:pPr lvl="1"/>
            <a:r>
              <a:rPr/>
              <a:t>Follows </a:t>
            </a:r>
            <a:r>
              <a:rPr b="1"/>
              <a:t>Skills</a:t>
            </a:r>
            <a:r>
              <a:rPr/>
              <a:t> – written instructions for a specific recurring task</a:t>
            </a:r>
          </a:p>
          <a:p>
            <a:pPr lvl="1"/>
            <a:r>
              <a:rPr/>
              <a:t>Can spawn </a:t>
            </a:r>
            <a:r>
              <a:rPr b="1"/>
              <a:t>subagents</a:t>
            </a:r>
            <a:r>
              <a:rPr/>
              <a:t>: independent Claude conversations for parallel work (this is how we simulate many subjects at once)</a:t>
            </a:r>
          </a:p>
          <a:p>
            <a:pPr lvl="0"/>
            <a:r>
              <a:rPr/>
              <a:t>You talk to Claude Code in plain English; it takes the actions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Python</a:t>
            </a:r>
            <a:r>
              <a:rPr/>
              <a:t> – sampling, statistics, chart generation (pandas, numpy, scipy, statsmodels, matplotlib)</a:t>
            </a:r>
          </a:p>
          <a:p>
            <a:pPr lvl="0"/>
            <a:r>
              <a:rPr b="1"/>
              <a:t>git + GitHub</a:t>
            </a:r>
            <a:r>
              <a:rPr/>
              <a:t> – version control, collaboration, backup</a:t>
            </a:r>
          </a:p>
          <a:p>
            <a:pPr lvl="0"/>
            <a:r>
              <a:rPr b="1"/>
              <a:t>VS Code + Claude Code</a:t>
            </a:r>
            <a:r>
              <a:rPr/>
              <a:t> – the environment this all runs in</a:t>
            </a:r>
          </a:p>
          <a:p>
            <a:pPr lvl="0"/>
            <a:r>
              <a:rPr b="1"/>
              <a:t>pandoc</a:t>
            </a:r>
            <a:r>
              <a:rPr/>
              <a:t> – converts markdown into docx / pptx / pdf (used for writeups, this deck, and the workbook)</a:t>
            </a:r>
          </a:p>
          <a:p>
            <a:pPr lvl="0"/>
            <a:r>
              <a:rPr/>
              <a:t>All of it installed and configured </a:t>
            </a:r>
            <a:r>
              <a:rPr i="1"/>
              <a:t>by</a:t>
            </a:r>
            <a:r>
              <a:rPr/>
              <a:t> Claude Code, conversationally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python -m venv .venv</a:t>
            </a:r>
            <a:r>
              <a:rPr/>
              <a:t> then </a:t>
            </a:r>
            <a:r>
              <a:rPr>
                <a:latin typeface="Courier"/>
              </a:rPr>
              <a:t>pip install -r scripts/requirements.txt</a:t>
            </a:r>
          </a:p>
          <a:p>
            <a:pPr lvl="0"/>
            <a:r>
              <a:rPr>
                <a:latin typeface="Courier"/>
              </a:rPr>
              <a:t>git init</a:t>
            </a:r>
            <a:r>
              <a:rPr/>
              <a:t>, then </a:t>
            </a:r>
            <a:r>
              <a:rPr>
                <a:latin typeface="Courier"/>
              </a:rPr>
              <a:t>gh repo create --private --source=. --push</a:t>
            </a:r>
          </a:p>
          <a:p>
            <a:pPr lvl="0"/>
            <a:r>
              <a:rPr/>
              <a:t>Real snags hit along the way (useful to know, not just theory):</a:t>
            </a:r>
          </a:p>
          <a:p>
            <a:pPr lvl="1"/>
            <a:r>
              <a:rPr>
                <a:latin typeface="Courier"/>
              </a:rPr>
              <a:t>winget install</a:t>
            </a:r>
            <a:r>
              <a:rPr/>
              <a:t> needed </a:t>
            </a:r>
            <a:r>
              <a:rPr>
                <a:latin typeface="Courier"/>
              </a:rPr>
              <a:t>--scope user</a:t>
            </a:r>
            <a:r>
              <a:rPr/>
              <a:t> to dodge an admin-elevation prompt that silently failed in a non-interactive shell</a:t>
            </a:r>
          </a:p>
          <a:p>
            <a:pPr lvl="1"/>
            <a:r>
              <a:rPr/>
              <a:t>PATH changes don’t persist between separate terminal commands – each one needs its own PATH refresh</a:t>
            </a:r>
          </a:p>
          <a:p>
            <a:pPr lvl="1"/>
            <a:r>
              <a:rPr/>
              <a:t>pandoc needs </a:t>
            </a:r>
            <a:r>
              <a:rPr>
                <a:latin typeface="Courier"/>
              </a:rPr>
              <a:t>--resource-path</a:t>
            </a:r>
            <a:r>
              <a:rPr/>
              <a:t> to find images referenced by relative path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Behavioral audit 2. Solution ideation 3. </a:t>
            </a:r>
            <a:r>
              <a:rPr b="1"/>
              <a:t>Solution design</a:t>
            </a:r>
          </a:p>
          <a:p>
            <a:pPr lvl="0" indent="-342900" marL="342900">
              <a:buAutoNum type="arabicPeriod"/>
            </a:pPr>
            <a:r>
              <a:rPr b="1"/>
              <a:t>Synthetic A/B test</a:t>
            </a:r>
            <a:r>
              <a:rPr/>
              <a:t> 5. </a:t>
            </a:r>
            <a:r>
              <a:rPr b="1"/>
              <a:t>Data analysis</a:t>
            </a:r>
            <a:r>
              <a:rPr/>
              <a:t> 6. Presentation</a:t>
            </a:r>
          </a:p>
          <a:p>
            <a:pPr lvl="0" indent="-342900" marL="342900">
              <a:buAutoNum type="arabicPeriod"/>
            </a:pPr>
            <a:r>
              <a:rPr b="1"/>
              <a:t>Scientific writeup</a:t>
            </a:r>
            <a:r>
              <a:rPr/>
              <a:t> 8. Revised solution 9. Feedback</a:t>
            </a:r>
          </a:p>
          <a:p>
            <a:pPr lvl="0" indent="0" marL="0">
              <a:buNone/>
            </a:pPr>
            <a:r>
              <a:rPr/>
              <a:t>Bold = built in this workshop’s environment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Built</a:t>
            </a:r>
            <a:r>
              <a:rPr/>
              <a:t>: Stages 3, 4, 5, 7 – the empirical core (design -&gt; test -&gt; analyze -&gt; write up)</a:t>
            </a:r>
          </a:p>
          <a:p>
            <a:pPr lvl="0"/>
            <a:r>
              <a:rPr b="1"/>
              <a:t>Deferred</a:t>
            </a:r>
            <a:r>
              <a:rPr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/>
              <a:t>Deferred within Stage 5</a:t>
            </a:r>
            <a:r>
              <a:rPr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/>
              <a:t>Lesson: scope a v1 tightly around what you can validate end-to-end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Demographics + individual differences sampled from researcher-specified means/SDs (age, income, financial literacy, numeracy…)</a:t>
            </a:r>
          </a:p>
          <a:p>
            <a:pPr lvl="0"/>
            <a:r>
              <a:rPr/>
              <a:t>Correlated variables drawn via a </a:t>
            </a:r>
            <a:r>
              <a:rPr b="1"/>
              <a:t>Gaussian copula</a:t>
            </a:r>
            <a:r>
              <a:rPr/>
              <a:t> so specified correlations (e.g. income &lt;-&gt; financial literacy) are respected</a:t>
            </a:r>
          </a:p>
          <a:p>
            <a:pPr lvl="0"/>
            <a:r>
              <a:rPr/>
              <a:t>Ordinal/count variables (income bracket, literacy score) rounded to valid values</a:t>
            </a:r>
          </a:p>
          <a:p>
            <a:pPr lvl="0"/>
            <a:r>
              <a:rPr/>
              <a:t>Random, independent assignment to condition – same mechanics as a real RCT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</a:t>
            </a:r>
            <a:r>
              <a:rPr b="1"/>
              <a:t>subagent</a:t>
            </a:r>
            <a:r>
              <a:rPr/>
              <a:t> simulates a batch of ~10 subjects in one call – batching matters:</a:t>
            </a:r>
          </a:p>
          <a:p>
            <a:pPr lvl="1"/>
            <a:r>
              <a:rPr/>
              <a:t>Batch size 2: ~9,875 tokens/subject</a:t>
            </a:r>
          </a:p>
          <a:p>
            <a:pPr lvl="1"/>
            <a:r>
              <a:rPr/>
              <a:t>Batch size 10: ~2,588 tokens/subject (</a:t>
            </a:r>
            <a:r>
              <a:rPr b="1"/>
              <a:t>~4x more efficient</a:t>
            </a:r>
            <a:r>
              <a:rPr/>
              <a:t>)</a:t>
            </a:r>
          </a:p>
          <a:p>
            <a:pPr lvl="0"/>
            <a:r>
              <a:rPr/>
              <a:t>Subjects respond in-persona based on their sampled profile, not as “an AI”</a:t>
            </a:r>
          </a:p>
          <a:p>
            <a:pPr lvl="0"/>
            <a:r>
              <a:rPr b="1"/>
              <a:t>Blinding feature</a:t>
            </a:r>
            <a:r>
              <a:rPr/>
              <a:t>: conditions can be tracked under neutral labels (Condition A/B) until the researcher chooses to reveal which is treatment – avoids analyst bias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Balance check</a:t>
            </a:r>
            <a:r>
              <a:rPr/>
              <a:t> – are demographics/individual differences actually balanced across conditions? (chi-sq, F-test, Bartlett’s)</a:t>
            </a:r>
          </a:p>
          <a:p>
            <a:pPr lvl="0"/>
            <a:r>
              <a:rPr b="1"/>
              <a:t>Regression</a:t>
            </a:r>
            <a:r>
              <a:rPr/>
              <a:t> – OLS or logit, with/without controls, on the primary and secondary outcomes</a:t>
            </a:r>
          </a:p>
          <a:p>
            <a:pPr lvl="0"/>
            <a:r>
              <a:rPr b="1"/>
              <a:t>Charts</a:t>
            </a:r>
            <a:r>
              <a:rPr/>
              <a:t> – outcome-by-condition bar charts with standard errors</a:t>
            </a:r>
          </a:p>
          <a:p>
            <a:pPr lvl="0"/>
            <a:r>
              <a:rPr/>
              <a:t>A real bug caught here: pandas 3.0’s new string dtype silently broke a dtype check – always verify assumptions on real output, don’t trust silently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 LLM-simulated subjects can reproduce a real behavioral effect’s </a:t>
            </a:r>
            <a:r>
              <a:rPr b="1"/>
              <a:t>direction and significance</a:t>
            </a:r>
            <a:r>
              <a:rPr/>
              <a:t> for a choice outcome</a:t>
            </a:r>
          </a:p>
          <a:p>
            <a:pPr lvl="0"/>
            <a:r>
              <a:rPr/>
              <a:t>They may </a:t>
            </a:r>
            <a:r>
              <a:rPr b="1"/>
              <a:t>understate effect sizes</a:t>
            </a:r>
            <a:r>
              <a:rPr/>
              <a:t> even when direction replicates (affordability)</a:t>
            </a:r>
          </a:p>
          <a:p>
            <a:pPr lvl="0"/>
            <a:r>
              <a:rPr/>
              <a:t>They can </a:t>
            </a:r>
            <a:r>
              <a:rPr b="1"/>
              <a:t>miss a mechanism entirely</a:t>
            </a:r>
            <a:r>
              <a:rPr/>
              <a:t> (understandability) – a reminder that synthetic samples are a tool for iteration, not a substitute for real data</a:t>
            </a:r>
          </a:p>
          <a:p>
            <a:pPr lvl="0"/>
            <a:r>
              <a:rPr/>
              <a:t>Practical toolkit: skills + subagents + Python + pandoc, all orchestrated conversationally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Behavioral Research Workshop</dc:creator>
  <cp:keywords/>
  <dcterms:created xsi:type="dcterms:W3CDTF">2026-07-24T16:31:54Z</dcterms:created>
  <dcterms:modified xsi:type="dcterms:W3CDTF">2026-07-24T16:31:54Z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From environment setup to a synthetic replication of a published study</vt:lpwstr>
  </property>
</Properties>
</file>